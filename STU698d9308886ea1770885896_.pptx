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98" r:id="rId1"/>
  </p:sldMasterIdLst>
  <p:notesMasterIdLst>
    <p:notesMasterId r:id="rId17"/>
  </p:notesMasterIdLst>
  <p:sldIdLst>
    <p:sldId id="283" r:id="rId2"/>
    <p:sldId id="257" r:id="rId3"/>
    <p:sldId id="282" r:id="rId4"/>
    <p:sldId id="285" r:id="rId5"/>
    <p:sldId id="278" r:id="rId6"/>
    <p:sldId id="279" r:id="rId7"/>
    <p:sldId id="262" r:id="rId8"/>
    <p:sldId id="290" r:id="rId9"/>
    <p:sldId id="291" r:id="rId10"/>
    <p:sldId id="286" r:id="rId11"/>
    <p:sldId id="287" r:id="rId12"/>
    <p:sldId id="280" r:id="rId13"/>
    <p:sldId id="288" r:id="rId14"/>
    <p:sldId id="289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3FA18-CB3D-4247-BBDD-D40334F02CBD}" v="40" dt="2026-07-12T17:08:21.968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859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7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9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08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414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5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9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3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570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914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441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96533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98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345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9635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24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085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  <p:sldLayoutId id="2147484111" r:id="rId13"/>
    <p:sldLayoutId id="2147484112" r:id="rId14"/>
    <p:sldLayoutId id="2147484113" r:id="rId15"/>
    <p:sldLayoutId id="2147484114" r:id="rId16"/>
    <p:sldLayoutId id="214748411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ziya07/power-system-faults-data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IBM University Engagement Project Submission</a:t>
            </a:r>
            <a:b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IN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System Fault Detection and Classification</a:t>
            </a:r>
            <a:r>
              <a:rPr lang="en-US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IN" b="1" i="1" dirty="0">
              <a:solidFill>
                <a:schemeClr val="accent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of  Project –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/ Electrical Engineering</a:t>
            </a:r>
            <a:endParaRPr lang="en-IN" sz="2400" b="1" dirty="0">
              <a:solidFill>
                <a:schemeClr val="accent6">
                  <a:lumMod val="40000"/>
                  <a:lumOff val="60000"/>
                </a:schemeClr>
              </a:solidFill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Tile –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System Fault Detection and Classification</a:t>
            </a:r>
            <a:endParaRPr lang="en-IN" sz="2400" b="1" dirty="0">
              <a:solidFill>
                <a:schemeClr val="accent6">
                  <a:lumMod val="40000"/>
                  <a:lumOff val="60000"/>
                </a:schemeClr>
              </a:solidFill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Google Shape;86;p2">
            <a:extLst>
              <a:ext uri="{FF2B5EF4-FFF2-40B4-BE49-F238E27FC236}">
                <a16:creationId xmlns:a16="http://schemas.microsoft.com/office/drawing/2014/main" id="{A9F6732A-3EED-BF42-708F-1C0AADD005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0369383"/>
              </p:ext>
            </p:extLst>
          </p:nvPr>
        </p:nvGraphicFramePr>
        <p:xfrm>
          <a:off x="1206162" y="2548637"/>
          <a:ext cx="9395000" cy="21671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Recent Passport Photo</a:t>
                      </a:r>
                      <a:endParaRPr sz="1800" b="1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Email ID </a:t>
                      </a:r>
                      <a:endParaRPr sz="1800" b="1" i="0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Mobile number</a:t>
                      </a:r>
                      <a:endParaRPr sz="1800" b="1" i="0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[WhatsApp] </a:t>
                      </a:r>
                      <a:endParaRPr sz="1800" b="1" i="0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KOTHAPALLI GOWRI SHANKAR </a:t>
                      </a:r>
                      <a:endParaRPr sz="1400" b="0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kothapalligourishankar@gmail.com</a:t>
                      </a:r>
                      <a:endParaRPr sz="1400" b="0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9059846439</a:t>
                      </a:r>
                      <a:endParaRPr sz="1400" b="0" u="none" strike="noStrike" cap="none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54AA7F7-0D75-9420-88C0-E32A4C7E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724" y="3507448"/>
            <a:ext cx="939800" cy="12083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82212" y="1232526"/>
            <a:ext cx="10795388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 machine learning model to detect and classify different types of faults in a power distribution system. Using electrical measurement data (voltage, current, power load, temperature), the model distinguishes between normal operating conditions and various fault conditions (line breakage, transformer failure, overheating).</a:t>
            </a: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will enable rapid and accurate fault identification, which is crucial for maintaining power grid stability and reliability.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–</a:t>
            </a:r>
            <a:b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Kaggle: Power System Faults Dataset</a:t>
            </a:r>
            <a:b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https://www.kaggle.com/datasets/ziya07/power-system-faults-dataset</a:t>
            </a:r>
            <a:endParaRPr lang="en-IN" sz="2000" dirty="0">
              <a:solidFill>
                <a:schemeClr val="accent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– IBM Cloud Lite services (mandatory)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351954" y="401529"/>
            <a:ext cx="11220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No.41-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System Fault Detection and Classification</a:t>
            </a:r>
          </a:p>
          <a:p>
            <a:endParaRPr lang="en-IN" sz="2400" b="1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23880" y="979534"/>
            <a:ext cx="10581000" cy="53245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propose an AI-powered Power System Fault Detection and Classification System built using IBM watsonx.ai Studio and AutoAI.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measurement data, including voltage and current phasor values, was collected and uploaded to the watsonx.ai platform. AutoAI automatically handled data preprocessing, feature engineering, algorithm selection, and hyperparameter tuning — eliminating the need for manual coding or model building.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classification pipelines were generated and compared using a ranked leaderboard based on accuracy and cross-validation scores. The best-performing pipeline was selected and trained to classify power system status into categories such as Line Breakage, Overheating, and Transformer Failure.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final model was promoted to a deployment space and published as an online, real-time prediction service on IBM Cloud. It was tested using sample electrical measurement values, and the model returned fault classifications with confidence scores — demonstrating a working end-to-end deployment pipeline for real-world power grid monitoring applications.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23880" y="35530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 -</a:t>
            </a:r>
            <a:endParaRPr lang="en-IN" sz="2400" b="1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Used</a:t>
            </a:r>
            <a:endParaRPr lang="en-IN" sz="2400" b="1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9494520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IBM Cloud –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the infrastructure to build, train, deploy, and scale the fault detection model. IBM Cloud enables a reliable, secure, and scalable environment for deploying machine learning models.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Algorithm/Model Used: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Snap Logistic Regression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Obtained: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0.393 (39.3%)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Enhancements and Hyperparameter Tuning: HPO-1 (Hyperparameter Optimization), Feature Engineering (FE), HPO-2</a:t>
            </a: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Accuracy was limited (39.3%) due to weak correlation between the dataset's numeric features and fault type — a common real-world ML challenge tied to data quality.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Training Screenshots-</a:t>
            </a:r>
            <a:endParaRPr sz="2400" b="1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3063B-E442-C97F-0CFB-9A45ADE02406}"/>
              </a:ext>
            </a:extLst>
          </p:cNvPr>
          <p:cNvSpPr txBox="1"/>
          <p:nvPr/>
        </p:nvSpPr>
        <p:spPr>
          <a:xfrm>
            <a:off x="1059811" y="6007522"/>
            <a:ext cx="7658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Fig: AutoAI experiment showing 9 pipelines generated from the training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B115E-814E-27B0-72FD-E5AAA67C8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11" y="1016265"/>
            <a:ext cx="10072377" cy="482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u="sng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Model Screenshot:</a:t>
            </a:r>
            <a:endParaRPr lang="en-US" sz="2400" b="1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5E460-205B-DB3C-402B-78E3B91CE486}"/>
              </a:ext>
            </a:extLst>
          </p:cNvPr>
          <p:cNvSpPr txBox="1"/>
          <p:nvPr/>
        </p:nvSpPr>
        <p:spPr>
          <a:xfrm>
            <a:off x="897860" y="6011541"/>
            <a:ext cx="10125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Fig: Pipeline leaderboard — Rank 1: Snap Logistic Regression (0.393).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48A36-23BE-85D7-7CEE-100B93564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842867"/>
            <a:ext cx="10439400" cy="4925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Screenshot: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90E72-F680-EE73-7E6B-0C577577B902}"/>
              </a:ext>
            </a:extLst>
          </p:cNvPr>
          <p:cNvSpPr txBox="1"/>
          <p:nvPr/>
        </p:nvSpPr>
        <p:spPr>
          <a:xfrm>
            <a:off x="914400" y="6086252"/>
            <a:ext cx="8239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Fig: Model successfully deployed — status "Deployed", type "Online".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3B6C5F-5F8D-072E-03F3-E45CAA2D8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80" y="934095"/>
            <a:ext cx="10353040" cy="49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DC2F13-C09F-1D50-6289-15F22A1D77FA}"/>
              </a:ext>
            </a:extLst>
          </p:cNvPr>
          <p:cNvSpPr txBox="1"/>
          <p:nvPr/>
        </p:nvSpPr>
        <p:spPr>
          <a:xfrm>
            <a:off x="414759" y="207380"/>
            <a:ext cx="281650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sng" strike="noStrike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Screenshot:</a:t>
            </a:r>
            <a:endParaRPr lang="en-US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7DFAF-625E-F901-EAEA-2265D9FFE8C9}"/>
              </a:ext>
            </a:extLst>
          </p:cNvPr>
          <p:cNvSpPr txBox="1"/>
          <p:nvPr/>
        </p:nvSpPr>
        <p:spPr>
          <a:xfrm>
            <a:off x="697790" y="6128583"/>
            <a:ext cx="9096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4: Model tested with sample input, predicting "Line Breakage" with 39% confidence.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4E17F-1D5A-3051-B5EE-8F95BA6B2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91" y="864992"/>
            <a:ext cx="10796417" cy="512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502920" y="407440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 and Uniqueness</a:t>
            </a:r>
            <a:endParaRPr lang="en-IN" sz="2400" b="1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502920" y="1095248"/>
            <a:ext cx="10769628" cy="53553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solution offers several advantages over traditional fault detection approaches:</a:t>
            </a:r>
          </a:p>
          <a:p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Response Time – </a:t>
            </a:r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classification enables near-instant fault detection compared to manual inspection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No-Code AI Development – </a:t>
            </a:r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AutoAI builds and optimizes the entire machine learning pipeline without requiring the student to write code, making advanced AI accessible.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Multi-Fault Classification – </a:t>
            </a:r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simple threshold-based relays, this model can distinguish between multiple fault types (line-to-ground, line-to-line, three-phase) in a single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Accuracy – </a:t>
            </a:r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learns directly from real electrical measurement patterns, improving detection accuracy over static rule-based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Deployment Ready – </a:t>
            </a:r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isn't just trained — it's deployed as a live, testable web service, showing practical readiness for integration into grid monitoring systems.</a:t>
            </a:r>
          </a:p>
          <a:p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Together, these features make the solution both technically sound and practically valuable for improving power grid reliability.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0155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Git Hub Link</a:t>
            </a:r>
            <a:endParaRPr sz="2400" b="1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015524" y="112474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https://github.com/k-shankar0905/power-fault-detection-ps41</a:t>
            </a:r>
            <a:endParaRPr sz="1850" b="1" i="0" strike="noStrike" cap="none" dirty="0">
              <a:solidFill>
                <a:schemeClr val="accent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721360" y="45188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Future Scope </a:t>
            </a:r>
            <a:endParaRPr sz="2400" b="1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721360" y="1155898"/>
            <a:ext cx="10454640" cy="525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with Real-Time Grid Sensors –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can be connected to live SCADA or IoT-based grid sensors for continuous, real-time fault monitoring instead of relying on static datasets. </a:t>
            </a:r>
          </a:p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Protection Systems –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versions could trigger automatic circuit breaker actions or alerts when a fault is detected, reducing response time during emergencies.</a:t>
            </a:r>
          </a:p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to Larger Networks –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same approach can be extended to larger, more complex distribution networks with multiple substations and feeders. </a:t>
            </a:r>
          </a:p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Learning –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new fault data becomes available, the model can be retrained periodically using IBM watsonx.ai to keep improving its accuracy over time.</a:t>
            </a:r>
          </a:p>
          <a:p>
            <a:pPr marL="342900" lvl="0" indent="-342900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Nationwide Grid Protection –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further development, this solution has potential to be scaled into a broader smart-grid protection system, improving reliability across regions.</a:t>
            </a:r>
            <a:endParaRPr lang="en-US" sz="1850" b="1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561629" y="159588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Certificates Earned:</a:t>
            </a:r>
          </a:p>
          <a:p>
            <a:pPr algn="ctr"/>
            <a:endParaRPr lang="en-US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CF3B4-FF6E-3692-BCCB-C37D01690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151" y="767515"/>
            <a:ext cx="7615698" cy="564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501816" y="256871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sng" strike="noStrike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Certificates Earned:</a:t>
            </a:r>
            <a:r>
              <a:rPr sz="2400" b="0" i="0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  <a:endParaRPr lang="en-US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D8C63-C679-4D7C-814C-86D8F1564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564" y="903499"/>
            <a:ext cx="8814872" cy="544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2ACC-2200-66E3-9CC9-37F85032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Autofit/>
          </a:bodyPr>
          <a:lstStyle/>
          <a:p>
            <a:r>
              <a:rPr lang="en-IN" sz="6600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98</TotalTime>
  <Words>827</Words>
  <Application>Microsoft Office PowerPoint</Application>
  <PresentationFormat>Widescreen</PresentationFormat>
  <Paragraphs>72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Calisto MT</vt:lpstr>
      <vt:lpstr>Times New Roman</vt:lpstr>
      <vt:lpstr>Wingdings 2</vt:lpstr>
      <vt:lpstr>Slate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Kothapalli GowriShankar</dc:creator>
  <cp:lastModifiedBy>Miriyala Jashmitha</cp:lastModifiedBy>
  <cp:revision>6</cp:revision>
  <dcterms:created xsi:type="dcterms:W3CDTF">2025-07-08T05:06:56Z</dcterms:created>
  <dcterms:modified xsi:type="dcterms:W3CDTF">2026-07-12T17:17:16Z</dcterms:modified>
</cp:coreProperties>
</file>